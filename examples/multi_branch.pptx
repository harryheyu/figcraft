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660065" cy="129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9660065" cy="129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roup:dual_branch"/>
          <p:cNvSpPr/>
          <p:nvPr/>
        </p:nvSpPr>
        <p:spPr>
          <a:xfrm>
            <a:off x="5698814" y="72000"/>
            <a:ext cx="1153436" cy="1152000"/>
          </a:xfrm>
          <a:prstGeom prst="rect">
            <a:avLst/>
          </a:prstGeom>
          <a:noFill/>
          <a:ln w="12600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"/>
          <p:cNvSpPr txBox="1"/>
          <p:nvPr/>
        </p:nvSpPr>
        <p:spPr>
          <a:xfrm>
            <a:off x="5752814" y="18000"/>
            <a:ext cx="631594" cy="136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r>
              <a:rPr sz="800">
                <a:solidFill>
                  <a:srgbClr val="000000"/>
                </a:solidFill>
                <a:latin typeface="Arial"/>
              </a:rPr>
              <a:t>Dual Branch</a:t>
            </a:r>
          </a:p>
        </p:txBody>
      </p:sp>
      <p:cxnSp>
        <p:nvCxnSpPr>
          <p:cNvPr id="5" name="edge:e_in_enc#seg0"/>
          <p:cNvCxnSpPr/>
          <p:nvPr/>
        </p:nvCxnSpPr>
        <p:spPr>
          <a:xfrm>
            <a:off x="900000" y="648000"/>
            <a:ext cx="576000" cy="0"/>
          </a:xfrm>
          <a:prstGeom prst="line">
            <a:avLst/>
          </a:prstGeom>
          <a:ln w="12600">
            <a:solidFill>
              <a:srgbClr val="444444"/>
            </a:solidFill>
            <a:prstDash val="soli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dge:e_enc_adapt#seg0"/>
          <p:cNvCxnSpPr/>
          <p:nvPr/>
        </p:nvCxnSpPr>
        <p:spPr>
          <a:xfrm>
            <a:off x="2215538" y="648000"/>
            <a:ext cx="576000" cy="0"/>
          </a:xfrm>
          <a:prstGeom prst="line">
            <a:avLst/>
          </a:prstGeom>
          <a:ln w="12600">
            <a:solidFill>
              <a:srgbClr val="444444"/>
            </a:solidFill>
            <a:prstDash val="soli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dge:e_adapt_bb#seg0"/>
          <p:cNvCxnSpPr/>
          <p:nvPr/>
        </p:nvCxnSpPr>
        <p:spPr>
          <a:xfrm>
            <a:off x="3796554" y="648000"/>
            <a:ext cx="576000" cy="0"/>
          </a:xfrm>
          <a:prstGeom prst="line">
            <a:avLst/>
          </a:prstGeom>
          <a:ln w="12600">
            <a:solidFill>
              <a:srgbClr val="444444"/>
            </a:solidFill>
            <a:prstDash val="soli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dge:e_bb_percep#seg0"/>
          <p:cNvCxnSpPr/>
          <p:nvPr/>
        </p:nvCxnSpPr>
        <p:spPr>
          <a:xfrm>
            <a:off x="5230814" y="648000"/>
            <a:ext cx="288000" cy="0"/>
          </a:xfrm>
          <a:prstGeom prst="line">
            <a:avLst/>
          </a:prstGeom>
          <a:ln w="12600">
            <a:solidFill>
              <a:srgbClr val="44444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dge:e_bb_percep#seg1"/>
          <p:cNvCxnSpPr/>
          <p:nvPr/>
        </p:nvCxnSpPr>
        <p:spPr>
          <a:xfrm flipV="1">
            <a:off x="5518814" y="360000"/>
            <a:ext cx="0" cy="288000"/>
          </a:xfrm>
          <a:prstGeom prst="line">
            <a:avLst/>
          </a:prstGeom>
          <a:ln w="12600">
            <a:solidFill>
              <a:srgbClr val="44444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dge:e_bb_percep#seg2"/>
          <p:cNvCxnSpPr/>
          <p:nvPr/>
        </p:nvCxnSpPr>
        <p:spPr>
          <a:xfrm>
            <a:off x="5518814" y="360000"/>
            <a:ext cx="288000" cy="0"/>
          </a:xfrm>
          <a:prstGeom prst="line">
            <a:avLst/>
          </a:prstGeom>
          <a:ln w="12600">
            <a:solidFill>
              <a:srgbClr val="444444"/>
            </a:solidFill>
            <a:prstDash val="soli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dge:e_bb_reason#seg0"/>
          <p:cNvCxnSpPr/>
          <p:nvPr/>
        </p:nvCxnSpPr>
        <p:spPr>
          <a:xfrm>
            <a:off x="5230814" y="648000"/>
            <a:ext cx="288000" cy="0"/>
          </a:xfrm>
          <a:prstGeom prst="line">
            <a:avLst/>
          </a:prstGeom>
          <a:ln w="12600">
            <a:solidFill>
              <a:srgbClr val="44444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dge:e_bb_reason#seg1"/>
          <p:cNvCxnSpPr/>
          <p:nvPr/>
        </p:nvCxnSpPr>
        <p:spPr>
          <a:xfrm>
            <a:off x="5518814" y="648000"/>
            <a:ext cx="0" cy="288000"/>
          </a:xfrm>
          <a:prstGeom prst="line">
            <a:avLst/>
          </a:prstGeom>
          <a:ln w="12600">
            <a:solidFill>
              <a:srgbClr val="44444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dge:e_bb_reason#seg2"/>
          <p:cNvCxnSpPr/>
          <p:nvPr/>
        </p:nvCxnSpPr>
        <p:spPr>
          <a:xfrm>
            <a:off x="5518814" y="936000"/>
            <a:ext cx="288000" cy="0"/>
          </a:xfrm>
          <a:prstGeom prst="line">
            <a:avLst/>
          </a:prstGeom>
          <a:ln w="12600">
            <a:solidFill>
              <a:srgbClr val="444444"/>
            </a:solidFill>
            <a:prstDash val="soli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dge:e_percep_fuse#seg0"/>
          <p:cNvCxnSpPr/>
          <p:nvPr/>
        </p:nvCxnSpPr>
        <p:spPr>
          <a:xfrm>
            <a:off x="6744250" y="360000"/>
            <a:ext cx="288000" cy="0"/>
          </a:xfrm>
          <a:prstGeom prst="line">
            <a:avLst/>
          </a:prstGeom>
          <a:ln w="12600">
            <a:solidFill>
              <a:srgbClr val="44444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dge:e_percep_fuse#seg1"/>
          <p:cNvCxnSpPr/>
          <p:nvPr/>
        </p:nvCxnSpPr>
        <p:spPr>
          <a:xfrm>
            <a:off x="7032250" y="360000"/>
            <a:ext cx="0" cy="288000"/>
          </a:xfrm>
          <a:prstGeom prst="line">
            <a:avLst/>
          </a:prstGeom>
          <a:ln w="12600">
            <a:solidFill>
              <a:srgbClr val="44444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dge:e_percep_fuse#seg2"/>
          <p:cNvCxnSpPr/>
          <p:nvPr/>
        </p:nvCxnSpPr>
        <p:spPr>
          <a:xfrm>
            <a:off x="7032250" y="648000"/>
            <a:ext cx="288000" cy="0"/>
          </a:xfrm>
          <a:prstGeom prst="line">
            <a:avLst/>
          </a:prstGeom>
          <a:ln w="12600">
            <a:solidFill>
              <a:srgbClr val="444444"/>
            </a:solidFill>
            <a:prstDash val="soli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dge:e_reason_fuse#seg0"/>
          <p:cNvCxnSpPr/>
          <p:nvPr/>
        </p:nvCxnSpPr>
        <p:spPr>
          <a:xfrm>
            <a:off x="6744250" y="936000"/>
            <a:ext cx="288000" cy="0"/>
          </a:xfrm>
          <a:prstGeom prst="line">
            <a:avLst/>
          </a:prstGeom>
          <a:ln w="12600">
            <a:solidFill>
              <a:srgbClr val="44444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dge:e_reason_fuse#seg1"/>
          <p:cNvCxnSpPr/>
          <p:nvPr/>
        </p:nvCxnSpPr>
        <p:spPr>
          <a:xfrm flipV="1">
            <a:off x="7032250" y="648000"/>
            <a:ext cx="0" cy="288000"/>
          </a:xfrm>
          <a:prstGeom prst="line">
            <a:avLst/>
          </a:prstGeom>
          <a:ln w="12600">
            <a:solidFill>
              <a:srgbClr val="44444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dge:e_reason_fuse#seg2"/>
          <p:cNvCxnSpPr/>
          <p:nvPr/>
        </p:nvCxnSpPr>
        <p:spPr>
          <a:xfrm>
            <a:off x="7032250" y="648000"/>
            <a:ext cx="288000" cy="0"/>
          </a:xfrm>
          <a:prstGeom prst="line">
            <a:avLst/>
          </a:prstGeom>
          <a:ln w="12600">
            <a:solidFill>
              <a:srgbClr val="444444"/>
            </a:solidFill>
            <a:prstDash val="soli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dge:e_fuse_cls#seg0"/>
          <p:cNvCxnSpPr/>
          <p:nvPr/>
        </p:nvCxnSpPr>
        <p:spPr>
          <a:xfrm>
            <a:off x="8184065" y="648000"/>
            <a:ext cx="576000" cy="0"/>
          </a:xfrm>
          <a:prstGeom prst="line">
            <a:avLst/>
          </a:prstGeom>
          <a:ln w="12600">
            <a:solidFill>
              <a:srgbClr val="444444"/>
            </a:solidFill>
            <a:prstDash val="soli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node:image_input"/>
          <p:cNvSpPr/>
          <p:nvPr/>
        </p:nvSpPr>
        <p:spPr>
          <a:xfrm>
            <a:off x="180000" y="468000"/>
            <a:ext cx="720000" cy="360000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 w="12600">
            <a:solidFill>
              <a:srgbClr val="44444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271613" y="591148"/>
            <a:ext cx="608773" cy="136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r>
              <a:rPr sz="800">
                <a:solidFill>
                  <a:srgbClr val="000000"/>
                </a:solidFill>
                <a:latin typeface="Arial"/>
              </a:rPr>
              <a:t>Image Input</a:t>
            </a:r>
          </a:p>
        </p:txBody>
      </p:sp>
      <p:sp>
        <p:nvSpPr>
          <p:cNvPr id="23" name="node:vision_encoder"/>
          <p:cNvSpPr/>
          <p:nvPr/>
        </p:nvSpPr>
        <p:spPr>
          <a:xfrm>
            <a:off x="1476000" y="468000"/>
            <a:ext cx="739538" cy="360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600">
            <a:solidFill>
              <a:srgbClr val="44444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"/>
          <p:cNvSpPr txBox="1"/>
          <p:nvPr/>
        </p:nvSpPr>
        <p:spPr>
          <a:xfrm>
            <a:off x="1566000" y="591148"/>
            <a:ext cx="631538" cy="136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r>
              <a:rPr sz="800">
                <a:solidFill>
                  <a:srgbClr val="000000"/>
                </a:solidFill>
                <a:latin typeface="Arial"/>
              </a:rPr>
              <a:t>ViT Encoder</a:t>
            </a:r>
          </a:p>
        </p:txBody>
      </p:sp>
      <p:sp>
        <p:nvSpPr>
          <p:cNvPr id="25" name="node:adapter"/>
          <p:cNvSpPr/>
          <p:nvPr/>
        </p:nvSpPr>
        <p:spPr>
          <a:xfrm>
            <a:off x="2791538" y="468000"/>
            <a:ext cx="1005016" cy="360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600">
            <a:solidFill>
              <a:srgbClr val="44444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"/>
          <p:cNvSpPr txBox="1"/>
          <p:nvPr/>
        </p:nvSpPr>
        <p:spPr>
          <a:xfrm>
            <a:off x="2881538" y="591148"/>
            <a:ext cx="897016" cy="136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r>
              <a:rPr sz="800">
                <a:solidFill>
                  <a:srgbClr val="000000"/>
                </a:solidFill>
                <a:latin typeface="Arial"/>
              </a:rPr>
              <a:t>Q-Former Adapter</a:t>
            </a:r>
          </a:p>
        </p:txBody>
      </p:sp>
      <p:sp>
        <p:nvSpPr>
          <p:cNvPr id="27" name="node:backbone"/>
          <p:cNvSpPr/>
          <p:nvPr/>
        </p:nvSpPr>
        <p:spPr>
          <a:xfrm>
            <a:off x="4372554" y="468000"/>
            <a:ext cx="858259" cy="360000"/>
          </a:xfrm>
          <a:prstGeom prst="roundRect">
            <a:avLst>
              <a:gd name="adj" fmla="val 25000"/>
            </a:avLst>
          </a:prstGeom>
          <a:solidFill>
            <a:srgbClr val="E5F4EC"/>
          </a:solidFill>
          <a:ln w="12600">
            <a:solidFill>
              <a:srgbClr val="44444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"/>
          <p:cNvSpPr txBox="1"/>
          <p:nvPr/>
        </p:nvSpPr>
        <p:spPr>
          <a:xfrm>
            <a:off x="4462554" y="591148"/>
            <a:ext cx="750259" cy="136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r>
              <a:rPr sz="800">
                <a:solidFill>
                  <a:srgbClr val="000000"/>
                </a:solidFill>
                <a:latin typeface="Arial"/>
              </a:rPr>
              <a:t>LLM Backbone</a:t>
            </a:r>
          </a:p>
        </p:txBody>
      </p:sp>
      <p:sp>
        <p:nvSpPr>
          <p:cNvPr id="29" name="node:perception_head"/>
          <p:cNvSpPr/>
          <p:nvPr/>
        </p:nvSpPr>
        <p:spPr>
          <a:xfrm>
            <a:off x="5806814" y="180000"/>
            <a:ext cx="937436" cy="360000"/>
          </a:xfrm>
          <a:prstGeom prst="rect">
            <a:avLst/>
          </a:prstGeom>
          <a:solidFill>
            <a:srgbClr val="FCE4CF"/>
          </a:solidFill>
          <a:ln w="12600">
            <a:solidFill>
              <a:srgbClr val="44444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"/>
          <p:cNvSpPr txBox="1"/>
          <p:nvPr/>
        </p:nvSpPr>
        <p:spPr>
          <a:xfrm>
            <a:off x="5896814" y="303148"/>
            <a:ext cx="829436" cy="136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r>
              <a:rPr sz="800">
                <a:solidFill>
                  <a:srgbClr val="000000"/>
                </a:solidFill>
                <a:latin typeface="Arial"/>
              </a:rPr>
              <a:t>Perception Head</a:t>
            </a:r>
          </a:p>
        </p:txBody>
      </p:sp>
      <p:sp>
        <p:nvSpPr>
          <p:cNvPr id="31" name="node:reasoning_head"/>
          <p:cNvSpPr/>
          <p:nvPr/>
        </p:nvSpPr>
        <p:spPr>
          <a:xfrm>
            <a:off x="5806814" y="756000"/>
            <a:ext cx="937436" cy="360000"/>
          </a:xfrm>
          <a:prstGeom prst="rect">
            <a:avLst/>
          </a:prstGeom>
          <a:solidFill>
            <a:srgbClr val="FCE4CF"/>
          </a:solidFill>
          <a:ln w="12600">
            <a:solidFill>
              <a:srgbClr val="44444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"/>
          <p:cNvSpPr txBox="1"/>
          <p:nvPr/>
        </p:nvSpPr>
        <p:spPr>
          <a:xfrm>
            <a:off x="5896814" y="879148"/>
            <a:ext cx="829436" cy="136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r>
              <a:rPr sz="800">
                <a:solidFill>
                  <a:srgbClr val="000000"/>
                </a:solidFill>
                <a:latin typeface="Arial"/>
              </a:rPr>
              <a:t>Reasoning Head</a:t>
            </a:r>
          </a:p>
        </p:txBody>
      </p:sp>
      <p:sp>
        <p:nvSpPr>
          <p:cNvPr id="33" name="node:fusion"/>
          <p:cNvSpPr/>
          <p:nvPr/>
        </p:nvSpPr>
        <p:spPr>
          <a:xfrm>
            <a:off x="7320250" y="468000"/>
            <a:ext cx="863816" cy="360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600">
            <a:solidFill>
              <a:srgbClr val="44444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"/>
          <p:cNvSpPr txBox="1"/>
          <p:nvPr/>
        </p:nvSpPr>
        <p:spPr>
          <a:xfrm>
            <a:off x="7410250" y="591148"/>
            <a:ext cx="755816" cy="136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r>
              <a:rPr sz="800">
                <a:solidFill>
                  <a:srgbClr val="000000"/>
                </a:solidFill>
                <a:latin typeface="Arial"/>
              </a:rPr>
              <a:t>Feature Fusion</a:t>
            </a:r>
          </a:p>
        </p:txBody>
      </p:sp>
      <p:sp>
        <p:nvSpPr>
          <p:cNvPr id="35" name="node:classifier"/>
          <p:cNvSpPr/>
          <p:nvPr/>
        </p:nvSpPr>
        <p:spPr>
          <a:xfrm>
            <a:off x="8760065" y="468000"/>
            <a:ext cx="720000" cy="360000"/>
          </a:xfrm>
          <a:prstGeom prst="roundRect">
            <a:avLst>
              <a:gd name="adj" fmla="val 25000"/>
            </a:avLst>
          </a:prstGeom>
          <a:solidFill>
            <a:srgbClr val="FCE8D8"/>
          </a:solidFill>
          <a:ln w="12600">
            <a:solidFill>
              <a:srgbClr val="44444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"/>
          <p:cNvSpPr txBox="1"/>
          <p:nvPr/>
        </p:nvSpPr>
        <p:spPr>
          <a:xfrm>
            <a:off x="8874389" y="591148"/>
            <a:ext cx="563353" cy="136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r>
              <a:rPr sz="800">
                <a:solidFill>
                  <a:srgbClr val="000000"/>
                </a:solidFill>
                <a:latin typeface="Arial"/>
              </a:rPr>
              <a:t>Task Head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multi_branch_architecture</dc:title>
  <dc:subject/>
  <dc:creator>papercanvas</dc:creator>
  <cp:keywords/>
  <dc:description>generated using python-pptx</dc:description>
  <cp:lastModifiedBy>papercanvas</cp:lastModifiedBy>
  <cp:revision>1</cp:revision>
  <dcterms:created xsi:type="dcterms:W3CDTF">2000-01-01T00:00:00Z</dcterms:created>
  <dcterms:modified xsi:type="dcterms:W3CDTF">2000-01-01T00:00:00Z</dcterms:modified>
  <cp:category/>
</cp:coreProperties>
</file>